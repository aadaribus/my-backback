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2" d="100"/>
          <a:sy n="62" d="100"/>
        </p:scale>
        <p:origin x="96" y="3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smtClean="0"/>
              <a:t>Haga clic para modificar el estilo de título del patrón</a:t>
            </a:r>
            <a:endParaRPr lang="es-ES"/>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smtClean="0"/>
              <a:t>Haga clic para modificar el estilo de subtítulo del patrón</a:t>
            </a:r>
            <a:endParaRPr lang="es-ES"/>
          </a:p>
        </p:txBody>
      </p:sp>
      <p:sp>
        <p:nvSpPr>
          <p:cNvPr id="4" name="Marcador de fecha 3"/>
          <p:cNvSpPr>
            <a:spLocks noGrp="1"/>
          </p:cNvSpPr>
          <p:nvPr>
            <p:ph type="dt" sz="half" idx="10"/>
          </p:nvPr>
        </p:nvSpPr>
        <p:spPr/>
        <p:txBody>
          <a:bodyPr/>
          <a:lstStyle/>
          <a:p>
            <a:fld id="{6F45F249-B99A-4F59-964A-DC939989B4CE}" type="datetimeFigureOut">
              <a:rPr lang="es-ES" smtClean="0"/>
              <a:t>27/06/2026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2841631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6F45F249-B99A-4F59-964A-DC939989B4CE}" type="datetimeFigureOut">
              <a:rPr lang="es-ES" smtClean="0"/>
              <a:t>27/06/2026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19393680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smtClean="0"/>
              <a:t>Haga clic para modificar el estilo de texto del patrón</a:t>
            </a:r>
          </a:p>
        </p:txBody>
      </p:sp>
      <p:sp>
        <p:nvSpPr>
          <p:cNvPr id="4" name="Marcador de fecha 3"/>
          <p:cNvSpPr>
            <a:spLocks noGrp="1"/>
          </p:cNvSpPr>
          <p:nvPr>
            <p:ph type="dt" sz="half" idx="10"/>
          </p:nvPr>
        </p:nvSpPr>
        <p:spPr/>
        <p:txBody>
          <a:bodyPr/>
          <a:lstStyle/>
          <a:p>
            <a:fld id="{6F45F249-B99A-4F59-964A-DC939989B4CE}" type="datetimeFigureOut">
              <a:rPr lang="es-ES" smtClean="0"/>
              <a:t>27/06/2026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3700322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contenido 2"/>
          <p:cNvSpPr>
            <a:spLocks noGrp="1"/>
          </p:cNvSpPr>
          <p:nvPr>
            <p:ph sz="half" idx="1"/>
          </p:nvPr>
        </p:nvSpPr>
        <p:spPr>
          <a:xfrm>
            <a:off x="838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contenido 3"/>
          <p:cNvSpPr>
            <a:spLocks noGrp="1"/>
          </p:cNvSpPr>
          <p:nvPr>
            <p:ph sz="half" idx="2"/>
          </p:nvPr>
        </p:nvSpPr>
        <p:spPr>
          <a:xfrm>
            <a:off x="6172200" y="1825625"/>
            <a:ext cx="5181600" cy="435133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fecha 4"/>
          <p:cNvSpPr>
            <a:spLocks noGrp="1"/>
          </p:cNvSpPr>
          <p:nvPr>
            <p:ph type="dt" sz="half" idx="10"/>
          </p:nvPr>
        </p:nvSpPr>
        <p:spPr/>
        <p:txBody>
          <a:bodyPr/>
          <a:lstStyle/>
          <a:p>
            <a:fld id="{6F45F249-B99A-4F59-964A-DC939989B4CE}" type="datetimeFigureOut">
              <a:rPr lang="es-ES" smtClean="0"/>
              <a:t>27/06/2026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1509251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7" name="Marcador de fecha 6"/>
          <p:cNvSpPr>
            <a:spLocks noGrp="1"/>
          </p:cNvSpPr>
          <p:nvPr>
            <p:ph type="dt" sz="half" idx="10"/>
          </p:nvPr>
        </p:nvSpPr>
        <p:spPr/>
        <p:txBody>
          <a:bodyPr/>
          <a:lstStyle/>
          <a:p>
            <a:fld id="{6F45F249-B99A-4F59-964A-DC939989B4CE}" type="datetimeFigureOut">
              <a:rPr lang="es-ES" smtClean="0"/>
              <a:t>27/06/2026</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4004489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fecha 2"/>
          <p:cNvSpPr>
            <a:spLocks noGrp="1"/>
          </p:cNvSpPr>
          <p:nvPr>
            <p:ph type="dt" sz="half" idx="10"/>
          </p:nvPr>
        </p:nvSpPr>
        <p:spPr/>
        <p:txBody>
          <a:bodyPr/>
          <a:lstStyle/>
          <a:p>
            <a:fld id="{6F45F249-B99A-4F59-964A-DC939989B4CE}" type="datetimeFigureOut">
              <a:rPr lang="es-ES" smtClean="0"/>
              <a:t>27/06/2026</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29647999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6F45F249-B99A-4F59-964A-DC939989B4CE}" type="datetimeFigureOut">
              <a:rPr lang="es-ES" smtClean="0"/>
              <a:t>27/06/2026</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34714997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6F45F249-B99A-4F59-964A-DC939989B4CE}" type="datetimeFigureOut">
              <a:rPr lang="es-ES" smtClean="0"/>
              <a:t>27/06/2026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21794128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smtClean="0"/>
              <a:t>Haga clic para modificar el estilo de título del patrón</a:t>
            </a:r>
            <a:endParaRPr lang="es-ES"/>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smtClean="0"/>
              <a:t>Haga clic para modificar el estilo de texto del patrón</a:t>
            </a:r>
          </a:p>
        </p:txBody>
      </p:sp>
      <p:sp>
        <p:nvSpPr>
          <p:cNvPr id="5" name="Marcador de fecha 4"/>
          <p:cNvSpPr>
            <a:spLocks noGrp="1"/>
          </p:cNvSpPr>
          <p:nvPr>
            <p:ph type="dt" sz="half" idx="10"/>
          </p:nvPr>
        </p:nvSpPr>
        <p:spPr/>
        <p:txBody>
          <a:bodyPr/>
          <a:lstStyle/>
          <a:p>
            <a:fld id="{6F45F249-B99A-4F59-964A-DC939989B4CE}" type="datetimeFigureOut">
              <a:rPr lang="es-ES" smtClean="0"/>
              <a:t>27/06/2026</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36510766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6F45F249-B99A-4F59-964A-DC939989B4CE}" type="datetimeFigureOut">
              <a:rPr lang="es-ES" smtClean="0"/>
              <a:t>27/06/2026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18339112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smtClean="0"/>
              <a:t>Haga clic para modificar el estilo de título del patrón</a:t>
            </a:r>
            <a:endParaRPr lang="es-ES"/>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10"/>
          </p:nvPr>
        </p:nvSpPr>
        <p:spPr/>
        <p:txBody>
          <a:bodyPr/>
          <a:lstStyle/>
          <a:p>
            <a:fld id="{6F45F249-B99A-4F59-964A-DC939989B4CE}" type="datetimeFigureOut">
              <a:rPr lang="es-ES" smtClean="0"/>
              <a:t>27/06/2026</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D3DACAC3-C7A3-49C6-B69C-067C14D671F7}" type="slidenum">
              <a:rPr lang="es-ES" smtClean="0"/>
              <a:t>‹Nº›</a:t>
            </a:fld>
            <a:endParaRPr lang="es-ES"/>
          </a:p>
        </p:txBody>
      </p:sp>
    </p:spTree>
    <p:extLst>
      <p:ext uri="{BB962C8B-B14F-4D97-AF65-F5344CB8AC3E}">
        <p14:creationId xmlns:p14="http://schemas.microsoft.com/office/powerpoint/2010/main" val="18596503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smtClean="0"/>
              <a:t>Haga clic para modificar el estilo de título del patrón</a:t>
            </a:r>
            <a:endParaRPr lang="es-ES"/>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F45F249-B99A-4F59-964A-DC939989B4CE}" type="datetimeFigureOut">
              <a:rPr lang="es-ES" smtClean="0"/>
              <a:t>27/06/2026</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DACAC3-C7A3-49C6-B69C-067C14D671F7}" type="slidenum">
              <a:rPr lang="es-ES" smtClean="0"/>
              <a:t>‹Nº›</a:t>
            </a:fld>
            <a:endParaRPr lang="es-ES"/>
          </a:p>
        </p:txBody>
      </p:sp>
    </p:spTree>
    <p:extLst>
      <p:ext uri="{BB962C8B-B14F-4D97-AF65-F5344CB8AC3E}">
        <p14:creationId xmlns:p14="http://schemas.microsoft.com/office/powerpoint/2010/main" val="33868467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pic>
        <p:nvPicPr>
          <p:cNvPr id="4" name="Imagen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29174" y="1144534"/>
            <a:ext cx="2533650" cy="18002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Rectángulo 4"/>
          <p:cNvSpPr/>
          <p:nvPr/>
        </p:nvSpPr>
        <p:spPr>
          <a:xfrm>
            <a:off x="3373299" y="4092469"/>
            <a:ext cx="5445401" cy="923330"/>
          </a:xfrm>
          <a:prstGeom prst="rect">
            <a:avLst/>
          </a:prstGeom>
          <a:noFill/>
        </p:spPr>
        <p:txBody>
          <a:bodyPr wrap="none" lIns="91440" tIns="45720" rIns="91440" bIns="45720">
            <a:spAutoFit/>
          </a:bodyPr>
          <a:lstStyle/>
          <a:p>
            <a:r>
              <a:rPr lang="es-ES" sz="5400" b="1" dirty="0"/>
              <a:t>Mi </a:t>
            </a:r>
            <a:r>
              <a:rPr lang="es-ES" sz="5400" b="1" dirty="0" smtClean="0"/>
              <a:t>Mochila Digital</a:t>
            </a:r>
            <a:endParaRPr lang="es-ES" sz="5400" b="1" dirty="0"/>
          </a:p>
        </p:txBody>
      </p:sp>
    </p:spTree>
    <p:extLst>
      <p:ext uri="{BB962C8B-B14F-4D97-AF65-F5344CB8AC3E}">
        <p14:creationId xmlns:p14="http://schemas.microsoft.com/office/powerpoint/2010/main" val="39534565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3668254" y="717034"/>
            <a:ext cx="4855492" cy="523220"/>
          </a:xfrm>
          <a:prstGeom prst="rect">
            <a:avLst/>
          </a:prstGeom>
        </p:spPr>
        <p:txBody>
          <a:bodyPr wrap="square">
            <a:spAutoFit/>
          </a:bodyPr>
          <a:lstStyle/>
          <a:p>
            <a:r>
              <a:rPr lang="es-ES" sz="2800" b="1" i="0" dirty="0" smtClean="0">
                <a:solidFill>
                  <a:srgbClr val="5E3A22"/>
                </a:solidFill>
                <a:effectLst/>
                <a:latin typeface="Palatino Linotype" panose="02040502050505030304" pitchFamily="18" charset="0"/>
              </a:rPr>
              <a:t>¿Qué es Mi Mochila Digital?</a:t>
            </a:r>
            <a:endParaRPr lang="es-ES" sz="2800" b="1" i="0" dirty="0">
              <a:solidFill>
                <a:srgbClr val="5E3A22"/>
              </a:solidFill>
              <a:effectLst/>
              <a:latin typeface="Palatino Linotype" panose="02040502050505030304" pitchFamily="18" charset="0"/>
            </a:endParaRPr>
          </a:p>
        </p:txBody>
      </p:sp>
      <p:sp>
        <p:nvSpPr>
          <p:cNvPr id="3" name="Rectángulo 2"/>
          <p:cNvSpPr/>
          <p:nvPr/>
        </p:nvSpPr>
        <p:spPr>
          <a:xfrm>
            <a:off x="1663700" y="1491986"/>
            <a:ext cx="8864600" cy="2554545"/>
          </a:xfrm>
          <a:prstGeom prst="rect">
            <a:avLst/>
          </a:prstGeom>
        </p:spPr>
        <p:txBody>
          <a:bodyPr wrap="square">
            <a:spAutoFit/>
          </a:bodyPr>
          <a:lstStyle/>
          <a:p>
            <a:r>
              <a:rPr lang="es-ES" sz="2000" b="0" i="0" dirty="0" smtClean="0">
                <a:solidFill>
                  <a:srgbClr val="555555"/>
                </a:solidFill>
                <a:effectLst/>
                <a:latin typeface="Palatino Linotype" panose="02040502050505030304" pitchFamily="18" charset="0"/>
              </a:rPr>
              <a:t>Mi Mochila Digital es una plataforma digital innovadora diseñada para estudiantes y educadores. Permite organizar, compartir y acceder a contenido educativo de manera intuitiva y eficiente y practica.</a:t>
            </a:r>
          </a:p>
          <a:p>
            <a:endParaRPr lang="es-ES" sz="2000" b="0" i="0" dirty="0" smtClean="0">
              <a:solidFill>
                <a:srgbClr val="555555"/>
              </a:solidFill>
              <a:effectLst/>
              <a:latin typeface="Palatino Linotype" panose="02040502050505030304" pitchFamily="18" charset="0"/>
            </a:endParaRPr>
          </a:p>
          <a:p>
            <a:r>
              <a:rPr lang="es-ES" sz="2000" b="0" i="0" dirty="0" smtClean="0">
                <a:solidFill>
                  <a:srgbClr val="555555"/>
                </a:solidFill>
                <a:effectLst/>
                <a:latin typeface="Palatino Linotype" panose="02040502050505030304" pitchFamily="18" charset="0"/>
              </a:rPr>
              <a:t>Nuestra misión es transformar la forma en que los estudiantes interactúan con sus materiales de estudio, proporcionando un espacio centralizado donde toda la información importante de cada clase está al alcance de un clic, en la facilidad de su teléfono o computadora.</a:t>
            </a:r>
            <a:endParaRPr lang="es-ES" sz="2000" b="0" i="0" dirty="0">
              <a:solidFill>
                <a:srgbClr val="555555"/>
              </a:solidFill>
              <a:effectLst/>
              <a:latin typeface="Palatino Linotype" panose="02040502050505030304" pitchFamily="18" charset="0"/>
            </a:endParaRPr>
          </a:p>
        </p:txBody>
      </p:sp>
    </p:spTree>
    <p:extLst>
      <p:ext uri="{BB962C8B-B14F-4D97-AF65-F5344CB8AC3E}">
        <p14:creationId xmlns:p14="http://schemas.microsoft.com/office/powerpoint/2010/main" val="3034293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2328494" y="0"/>
            <a:ext cx="7535011" cy="923330"/>
          </a:xfrm>
          <a:prstGeom prst="rect">
            <a:avLst/>
          </a:prstGeom>
          <a:noFill/>
        </p:spPr>
        <p:txBody>
          <a:bodyPr wrap="none" lIns="91440" tIns="45720" rIns="91440" bIns="45720">
            <a:spAutoFit/>
          </a:bodyPr>
          <a:lstStyle/>
          <a:p>
            <a:pPr algn="ctr"/>
            <a:r>
              <a:rPr lang="es-ES" sz="5400" b="1" cap="none" spc="0" dirty="0" smtClean="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rPr>
              <a:t>Principales características</a:t>
            </a:r>
            <a:endParaRPr lang="es-ES" sz="5400" b="1" cap="none" spc="0" dirty="0">
              <a:ln w="9525">
                <a:solidFill>
                  <a:schemeClr val="bg1"/>
                </a:solidFill>
                <a:prstDash val="solid"/>
              </a:ln>
              <a:solidFill>
                <a:schemeClr val="accent5"/>
              </a:solidFill>
              <a:effectLst>
                <a:outerShdw blurRad="12700" dist="38100" dir="2700000" algn="tl" rotWithShape="0">
                  <a:schemeClr val="accent5">
                    <a:lumMod val="60000"/>
                    <a:lumOff val="40000"/>
                  </a:schemeClr>
                </a:outerShdw>
              </a:effectLst>
            </a:endParaRPr>
          </a:p>
        </p:txBody>
      </p:sp>
      <p:sp>
        <p:nvSpPr>
          <p:cNvPr id="3" name="Rectángulo 2"/>
          <p:cNvSpPr/>
          <p:nvPr/>
        </p:nvSpPr>
        <p:spPr>
          <a:xfrm>
            <a:off x="2037195" y="1120802"/>
            <a:ext cx="1646605" cy="369332"/>
          </a:xfrm>
          <a:prstGeom prst="rect">
            <a:avLst/>
          </a:prstGeom>
        </p:spPr>
        <p:txBody>
          <a:bodyPr wrap="none">
            <a:spAutoFit/>
          </a:bodyPr>
          <a:lstStyle/>
          <a:p>
            <a:pPr algn="ctr"/>
            <a:r>
              <a:rPr lang="es-ES" b="1" i="0" dirty="0" smtClean="0">
                <a:solidFill>
                  <a:srgbClr val="5E3A22"/>
                </a:solidFill>
                <a:effectLst/>
                <a:latin typeface="Poppins"/>
              </a:rPr>
              <a:t>Organización</a:t>
            </a:r>
            <a:endParaRPr lang="es-ES" b="1" i="0" dirty="0">
              <a:solidFill>
                <a:srgbClr val="5E3A22"/>
              </a:solidFill>
              <a:effectLst/>
              <a:latin typeface="Poppins"/>
            </a:endParaRPr>
          </a:p>
        </p:txBody>
      </p:sp>
      <p:sp>
        <p:nvSpPr>
          <p:cNvPr id="4" name="Rectángulo 3"/>
          <p:cNvSpPr/>
          <p:nvPr/>
        </p:nvSpPr>
        <p:spPr>
          <a:xfrm>
            <a:off x="1936398" y="1550437"/>
            <a:ext cx="2067903" cy="1477328"/>
          </a:xfrm>
          <a:prstGeom prst="rect">
            <a:avLst/>
          </a:prstGeom>
        </p:spPr>
        <p:txBody>
          <a:bodyPr wrap="square">
            <a:spAutoFit/>
          </a:bodyPr>
          <a:lstStyle/>
          <a:p>
            <a:r>
              <a:rPr lang="es-ES" b="0" i="0" dirty="0" smtClean="0">
                <a:solidFill>
                  <a:srgbClr val="666666"/>
                </a:solidFill>
                <a:effectLst/>
                <a:latin typeface="Poppins"/>
              </a:rPr>
              <a:t>Organiza tus materias y apuntes de forma clara y estructurada.</a:t>
            </a:r>
            <a:endParaRPr lang="es-ES" dirty="0"/>
          </a:p>
        </p:txBody>
      </p:sp>
      <p:sp>
        <p:nvSpPr>
          <p:cNvPr id="5" name="Forma libre 4"/>
          <p:cNvSpPr/>
          <p:nvPr/>
        </p:nvSpPr>
        <p:spPr>
          <a:xfrm>
            <a:off x="965199" y="979830"/>
            <a:ext cx="10472549" cy="5148000"/>
          </a:xfrm>
          <a:custGeom>
            <a:avLst/>
            <a:gdLst>
              <a:gd name="connsiteX0" fmla="*/ 0 w 8039250"/>
              <a:gd name="connsiteY0" fmla="*/ 556870 h 4887570"/>
              <a:gd name="connsiteX1" fmla="*/ 1587500 w 8039250"/>
              <a:gd name="connsiteY1" fmla="*/ 175870 h 4887570"/>
              <a:gd name="connsiteX2" fmla="*/ 1117600 w 8039250"/>
              <a:gd name="connsiteY2" fmla="*/ 3046070 h 4887570"/>
              <a:gd name="connsiteX3" fmla="*/ 4559300 w 8039250"/>
              <a:gd name="connsiteY3" fmla="*/ 2042770 h 4887570"/>
              <a:gd name="connsiteX4" fmla="*/ 3581400 w 8039250"/>
              <a:gd name="connsiteY4" fmla="*/ 1026770 h 4887570"/>
              <a:gd name="connsiteX5" fmla="*/ 6146800 w 8039250"/>
              <a:gd name="connsiteY5" fmla="*/ 366370 h 4887570"/>
              <a:gd name="connsiteX6" fmla="*/ 8039100 w 8039250"/>
              <a:gd name="connsiteY6" fmla="*/ 3261970 h 4887570"/>
              <a:gd name="connsiteX7" fmla="*/ 6261100 w 8039250"/>
              <a:gd name="connsiteY7" fmla="*/ 4887570 h 4887570"/>
              <a:gd name="connsiteX8" fmla="*/ 6261100 w 8039250"/>
              <a:gd name="connsiteY8" fmla="*/ 4887570 h 48875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039250" h="4887570">
                <a:moveTo>
                  <a:pt x="0" y="556870"/>
                </a:moveTo>
                <a:cubicBezTo>
                  <a:pt x="700616" y="158936"/>
                  <a:pt x="1401233" y="-238997"/>
                  <a:pt x="1587500" y="175870"/>
                </a:cubicBezTo>
                <a:cubicBezTo>
                  <a:pt x="1773767" y="590737"/>
                  <a:pt x="622300" y="2734920"/>
                  <a:pt x="1117600" y="3046070"/>
                </a:cubicBezTo>
                <a:cubicBezTo>
                  <a:pt x="1612900" y="3357220"/>
                  <a:pt x="4148667" y="2379320"/>
                  <a:pt x="4559300" y="2042770"/>
                </a:cubicBezTo>
                <a:cubicBezTo>
                  <a:pt x="4969933" y="1706220"/>
                  <a:pt x="3316817" y="1306170"/>
                  <a:pt x="3581400" y="1026770"/>
                </a:cubicBezTo>
                <a:cubicBezTo>
                  <a:pt x="3845983" y="747370"/>
                  <a:pt x="5403850" y="-6163"/>
                  <a:pt x="6146800" y="366370"/>
                </a:cubicBezTo>
                <a:cubicBezTo>
                  <a:pt x="6889750" y="738903"/>
                  <a:pt x="8020050" y="2508437"/>
                  <a:pt x="8039100" y="3261970"/>
                </a:cubicBezTo>
                <a:cubicBezTo>
                  <a:pt x="8058150" y="4015503"/>
                  <a:pt x="6261100" y="4887570"/>
                  <a:pt x="6261100" y="4887570"/>
                </a:cubicBezTo>
                <a:lnTo>
                  <a:pt x="6261100" y="4887570"/>
                </a:lnTo>
              </a:path>
            </a:pathLst>
          </a:custGeom>
          <a:noFill/>
          <a:ln w="50800">
            <a:solidFill>
              <a:schemeClr val="accent5">
                <a:lumMod val="60000"/>
                <a:lumOff val="4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Rectángulo 5"/>
          <p:cNvSpPr/>
          <p:nvPr/>
        </p:nvSpPr>
        <p:spPr>
          <a:xfrm>
            <a:off x="4466758" y="1164213"/>
            <a:ext cx="1492716" cy="369332"/>
          </a:xfrm>
          <a:prstGeom prst="rect">
            <a:avLst/>
          </a:prstGeom>
        </p:spPr>
        <p:txBody>
          <a:bodyPr wrap="none">
            <a:spAutoFit/>
          </a:bodyPr>
          <a:lstStyle/>
          <a:p>
            <a:pPr algn="ctr"/>
            <a:r>
              <a:rPr lang="es-ES" b="1" i="0" dirty="0" smtClean="0">
                <a:solidFill>
                  <a:srgbClr val="5E3A22"/>
                </a:solidFill>
                <a:effectLst/>
                <a:latin typeface="Poppins"/>
              </a:rPr>
              <a:t>Aprendizaje</a:t>
            </a:r>
            <a:endParaRPr lang="es-ES" b="1" i="0" dirty="0">
              <a:solidFill>
                <a:srgbClr val="5E3A22"/>
              </a:solidFill>
              <a:effectLst/>
              <a:latin typeface="Poppins"/>
            </a:endParaRPr>
          </a:p>
        </p:txBody>
      </p:sp>
      <p:sp>
        <p:nvSpPr>
          <p:cNvPr id="7" name="Rectángulo 6"/>
          <p:cNvSpPr/>
          <p:nvPr/>
        </p:nvSpPr>
        <p:spPr>
          <a:xfrm>
            <a:off x="4237656" y="1564208"/>
            <a:ext cx="2404917" cy="1200329"/>
          </a:xfrm>
          <a:prstGeom prst="rect">
            <a:avLst/>
          </a:prstGeom>
        </p:spPr>
        <p:txBody>
          <a:bodyPr wrap="square">
            <a:spAutoFit/>
          </a:bodyPr>
          <a:lstStyle/>
          <a:p>
            <a:r>
              <a:rPr lang="es-ES" b="0" i="0" dirty="0" smtClean="0">
                <a:solidFill>
                  <a:srgbClr val="666666"/>
                </a:solidFill>
                <a:effectLst/>
                <a:latin typeface="Poppins"/>
              </a:rPr>
              <a:t>Acceso a recursos multimedia: texto, imágenes, videos y audio.</a:t>
            </a:r>
            <a:endParaRPr lang="es-ES" dirty="0"/>
          </a:p>
        </p:txBody>
      </p:sp>
      <p:sp>
        <p:nvSpPr>
          <p:cNvPr id="8" name="Rectángulo 7"/>
          <p:cNvSpPr/>
          <p:nvPr/>
        </p:nvSpPr>
        <p:spPr>
          <a:xfrm>
            <a:off x="7245255" y="1135731"/>
            <a:ext cx="1659429" cy="369332"/>
          </a:xfrm>
          <a:prstGeom prst="rect">
            <a:avLst/>
          </a:prstGeom>
        </p:spPr>
        <p:txBody>
          <a:bodyPr wrap="none">
            <a:spAutoFit/>
          </a:bodyPr>
          <a:lstStyle/>
          <a:p>
            <a:pPr algn="ctr"/>
            <a:r>
              <a:rPr lang="es-ES" b="1" i="0" dirty="0" smtClean="0">
                <a:solidFill>
                  <a:srgbClr val="5E3A22"/>
                </a:solidFill>
                <a:effectLst/>
                <a:latin typeface="Poppins"/>
              </a:rPr>
              <a:t>Colaboración</a:t>
            </a:r>
            <a:endParaRPr lang="es-ES" b="1" i="0" dirty="0">
              <a:solidFill>
                <a:srgbClr val="5E3A22"/>
              </a:solidFill>
              <a:effectLst/>
              <a:latin typeface="Poppins"/>
            </a:endParaRPr>
          </a:p>
        </p:txBody>
      </p:sp>
      <p:sp>
        <p:nvSpPr>
          <p:cNvPr id="9" name="Rectángulo 8"/>
          <p:cNvSpPr/>
          <p:nvPr/>
        </p:nvSpPr>
        <p:spPr>
          <a:xfrm>
            <a:off x="6875928" y="1564208"/>
            <a:ext cx="2586399" cy="923330"/>
          </a:xfrm>
          <a:prstGeom prst="rect">
            <a:avLst/>
          </a:prstGeom>
        </p:spPr>
        <p:txBody>
          <a:bodyPr wrap="square">
            <a:spAutoFit/>
          </a:bodyPr>
          <a:lstStyle/>
          <a:p>
            <a:r>
              <a:rPr lang="es-ES" b="0" i="0" dirty="0" smtClean="0">
                <a:solidFill>
                  <a:srgbClr val="666666"/>
                </a:solidFill>
                <a:effectLst/>
                <a:latin typeface="Poppins"/>
              </a:rPr>
              <a:t>Crea grupos de estudio y colabora con otros estudiantes.</a:t>
            </a:r>
            <a:endParaRPr lang="es-ES" dirty="0"/>
          </a:p>
        </p:txBody>
      </p:sp>
      <p:sp>
        <p:nvSpPr>
          <p:cNvPr id="10" name="Rectángulo 9"/>
          <p:cNvSpPr/>
          <p:nvPr/>
        </p:nvSpPr>
        <p:spPr>
          <a:xfrm>
            <a:off x="1971143" y="3313023"/>
            <a:ext cx="1082348" cy="369332"/>
          </a:xfrm>
          <a:prstGeom prst="rect">
            <a:avLst/>
          </a:prstGeom>
        </p:spPr>
        <p:txBody>
          <a:bodyPr wrap="none">
            <a:spAutoFit/>
          </a:bodyPr>
          <a:lstStyle/>
          <a:p>
            <a:pPr algn="ctr"/>
            <a:r>
              <a:rPr lang="es-ES" b="1" i="0" dirty="0" smtClean="0">
                <a:solidFill>
                  <a:srgbClr val="5E3A22"/>
                </a:solidFill>
                <a:effectLst/>
                <a:latin typeface="Poppins"/>
              </a:rPr>
              <a:t>Eventos</a:t>
            </a:r>
            <a:endParaRPr lang="es-ES" b="1" i="0" dirty="0">
              <a:solidFill>
                <a:srgbClr val="5E3A22"/>
              </a:solidFill>
              <a:effectLst/>
              <a:latin typeface="Poppins"/>
            </a:endParaRPr>
          </a:p>
        </p:txBody>
      </p:sp>
      <p:sp>
        <p:nvSpPr>
          <p:cNvPr id="11" name="Rectángulo 10"/>
          <p:cNvSpPr/>
          <p:nvPr/>
        </p:nvSpPr>
        <p:spPr>
          <a:xfrm>
            <a:off x="1686467" y="3738496"/>
            <a:ext cx="2068590" cy="1200329"/>
          </a:xfrm>
          <a:prstGeom prst="rect">
            <a:avLst/>
          </a:prstGeom>
        </p:spPr>
        <p:txBody>
          <a:bodyPr wrap="square">
            <a:spAutoFit/>
          </a:bodyPr>
          <a:lstStyle/>
          <a:p>
            <a:r>
              <a:rPr lang="es-ES" b="0" i="0" dirty="0" smtClean="0">
                <a:solidFill>
                  <a:srgbClr val="666666"/>
                </a:solidFill>
                <a:effectLst/>
                <a:latin typeface="Poppins"/>
              </a:rPr>
              <a:t>Programa y gestiona eventos y recordatorios importantes.</a:t>
            </a:r>
            <a:endParaRPr lang="es-ES" dirty="0"/>
          </a:p>
        </p:txBody>
      </p:sp>
      <p:sp>
        <p:nvSpPr>
          <p:cNvPr id="12" name="Rectángulo 11"/>
          <p:cNvSpPr/>
          <p:nvPr/>
        </p:nvSpPr>
        <p:spPr>
          <a:xfrm>
            <a:off x="4237656" y="3314304"/>
            <a:ext cx="1313180" cy="369332"/>
          </a:xfrm>
          <a:prstGeom prst="rect">
            <a:avLst/>
          </a:prstGeom>
        </p:spPr>
        <p:txBody>
          <a:bodyPr wrap="none">
            <a:spAutoFit/>
          </a:bodyPr>
          <a:lstStyle/>
          <a:p>
            <a:pPr algn="ctr"/>
            <a:r>
              <a:rPr lang="es-ES" b="1" i="0" dirty="0" smtClean="0">
                <a:solidFill>
                  <a:srgbClr val="5E3A22"/>
                </a:solidFill>
                <a:effectLst/>
                <a:latin typeface="Poppins"/>
              </a:rPr>
              <a:t>Seguridad</a:t>
            </a:r>
            <a:endParaRPr lang="es-ES" b="1" i="0" dirty="0">
              <a:solidFill>
                <a:srgbClr val="5E3A22"/>
              </a:solidFill>
              <a:effectLst/>
              <a:latin typeface="Poppins"/>
            </a:endParaRPr>
          </a:p>
        </p:txBody>
      </p:sp>
      <p:sp>
        <p:nvSpPr>
          <p:cNvPr id="13" name="Rectángulo 12"/>
          <p:cNvSpPr/>
          <p:nvPr/>
        </p:nvSpPr>
        <p:spPr>
          <a:xfrm>
            <a:off x="4004301" y="3741494"/>
            <a:ext cx="2164024" cy="1477328"/>
          </a:xfrm>
          <a:prstGeom prst="rect">
            <a:avLst/>
          </a:prstGeom>
        </p:spPr>
        <p:txBody>
          <a:bodyPr wrap="square">
            <a:spAutoFit/>
          </a:bodyPr>
          <a:lstStyle/>
          <a:p>
            <a:r>
              <a:rPr lang="es-ES" b="0" i="0" dirty="0" smtClean="0">
                <a:solidFill>
                  <a:srgbClr val="666666"/>
                </a:solidFill>
                <a:effectLst/>
                <a:latin typeface="Poppins"/>
              </a:rPr>
              <a:t>Tus datos están protegidos con tecnología de encriptación moderna.</a:t>
            </a:r>
            <a:endParaRPr lang="es-ES" dirty="0"/>
          </a:p>
        </p:txBody>
      </p:sp>
      <p:sp>
        <p:nvSpPr>
          <p:cNvPr id="14" name="Rectángulo 13"/>
          <p:cNvSpPr/>
          <p:nvPr/>
        </p:nvSpPr>
        <p:spPr>
          <a:xfrm>
            <a:off x="7335023" y="3313023"/>
            <a:ext cx="1479892" cy="369332"/>
          </a:xfrm>
          <a:prstGeom prst="rect">
            <a:avLst/>
          </a:prstGeom>
        </p:spPr>
        <p:txBody>
          <a:bodyPr wrap="none">
            <a:spAutoFit/>
          </a:bodyPr>
          <a:lstStyle/>
          <a:p>
            <a:pPr algn="ctr"/>
            <a:r>
              <a:rPr lang="es-ES" b="1" i="0" dirty="0" err="1" smtClean="0">
                <a:solidFill>
                  <a:srgbClr val="5E3A22"/>
                </a:solidFill>
                <a:effectLst/>
                <a:latin typeface="Poppins"/>
              </a:rPr>
              <a:t>Responsive</a:t>
            </a:r>
            <a:endParaRPr lang="es-ES" b="1" i="0" dirty="0">
              <a:solidFill>
                <a:srgbClr val="5E3A22"/>
              </a:solidFill>
              <a:effectLst/>
              <a:latin typeface="Poppins"/>
            </a:endParaRPr>
          </a:p>
        </p:txBody>
      </p:sp>
      <p:sp>
        <p:nvSpPr>
          <p:cNvPr id="15" name="Rectángulo 14"/>
          <p:cNvSpPr/>
          <p:nvPr/>
        </p:nvSpPr>
        <p:spPr>
          <a:xfrm>
            <a:off x="7133524" y="3846019"/>
            <a:ext cx="2729981" cy="923330"/>
          </a:xfrm>
          <a:prstGeom prst="rect">
            <a:avLst/>
          </a:prstGeom>
        </p:spPr>
        <p:txBody>
          <a:bodyPr wrap="square">
            <a:spAutoFit/>
          </a:bodyPr>
          <a:lstStyle/>
          <a:p>
            <a:r>
              <a:rPr lang="es-ES" b="0" i="0" dirty="0" smtClean="0">
                <a:solidFill>
                  <a:srgbClr val="666666"/>
                </a:solidFill>
                <a:effectLst/>
                <a:latin typeface="Poppins"/>
              </a:rPr>
              <a:t>Accede desde cualquier dispositivo, en cualquier momento.</a:t>
            </a:r>
            <a:endParaRPr lang="es-ES" dirty="0"/>
          </a:p>
        </p:txBody>
      </p:sp>
    </p:spTree>
    <p:extLst>
      <p:ext uri="{BB962C8B-B14F-4D97-AF65-F5344CB8AC3E}">
        <p14:creationId xmlns:p14="http://schemas.microsoft.com/office/powerpoint/2010/main" val="34707498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sp>
        <p:nvSpPr>
          <p:cNvPr id="2" name="Rectángulo 1"/>
          <p:cNvSpPr/>
          <p:nvPr/>
        </p:nvSpPr>
        <p:spPr>
          <a:xfrm>
            <a:off x="4654657" y="408144"/>
            <a:ext cx="2882685" cy="646331"/>
          </a:xfrm>
          <a:prstGeom prst="rect">
            <a:avLst/>
          </a:prstGeom>
        </p:spPr>
        <p:txBody>
          <a:bodyPr wrap="square">
            <a:spAutoFit/>
          </a:bodyPr>
          <a:lstStyle/>
          <a:p>
            <a:r>
              <a:rPr lang="es-ES" sz="3600" b="1" i="0" dirty="0" smtClean="0">
                <a:solidFill>
                  <a:srgbClr val="5E3A22"/>
                </a:solidFill>
                <a:effectLst/>
                <a:latin typeface="Poppins"/>
              </a:rPr>
              <a:t>Tecnología</a:t>
            </a:r>
            <a:endParaRPr lang="es-ES" sz="3600" b="1" i="0" dirty="0">
              <a:solidFill>
                <a:srgbClr val="5E3A22"/>
              </a:solidFill>
              <a:effectLst/>
              <a:latin typeface="Poppins"/>
            </a:endParaRPr>
          </a:p>
        </p:txBody>
      </p:sp>
      <p:sp>
        <p:nvSpPr>
          <p:cNvPr id="3" name="Rectángulo 2"/>
          <p:cNvSpPr/>
          <p:nvPr/>
        </p:nvSpPr>
        <p:spPr>
          <a:xfrm>
            <a:off x="2291165" y="1326726"/>
            <a:ext cx="7609668" cy="5262979"/>
          </a:xfrm>
          <a:prstGeom prst="rect">
            <a:avLst/>
          </a:prstGeom>
        </p:spPr>
        <p:txBody>
          <a:bodyPr wrap="square">
            <a:spAutoFit/>
          </a:bodyPr>
          <a:lstStyle/>
          <a:p>
            <a:r>
              <a:rPr lang="es-ES" sz="2800" b="0" i="0" dirty="0" smtClean="0">
                <a:solidFill>
                  <a:srgbClr val="555555"/>
                </a:solidFill>
                <a:effectLst/>
                <a:latin typeface="Poppins"/>
              </a:rPr>
              <a:t>Mi Mochila está construida con tecnologías modernas y confiables:</a:t>
            </a:r>
          </a:p>
          <a:p>
            <a:endParaRPr lang="es-ES" sz="2800" b="0" i="0" dirty="0" smtClean="0">
              <a:solidFill>
                <a:srgbClr val="555555"/>
              </a:solidFill>
              <a:effectLst/>
              <a:latin typeface="Poppins"/>
            </a:endParaRPr>
          </a:p>
          <a:p>
            <a:pPr>
              <a:buFont typeface="Arial" panose="020B0604020202020204" pitchFamily="34" charset="0"/>
              <a:buChar char="•"/>
            </a:pPr>
            <a:r>
              <a:rPr lang="es-ES" sz="2800" b="1" i="0" dirty="0" err="1" smtClean="0">
                <a:solidFill>
                  <a:srgbClr val="555555"/>
                </a:solidFill>
                <a:effectLst/>
                <a:latin typeface="Poppins"/>
              </a:rPr>
              <a:t>Frontend</a:t>
            </a:r>
            <a:r>
              <a:rPr lang="es-ES" sz="2800" b="1" i="0" dirty="0" smtClean="0">
                <a:solidFill>
                  <a:srgbClr val="555555"/>
                </a:solidFill>
                <a:effectLst/>
                <a:latin typeface="Poppins"/>
              </a:rPr>
              <a:t>:</a:t>
            </a:r>
            <a:r>
              <a:rPr lang="es-ES" sz="2800" b="0" i="0" dirty="0" smtClean="0">
                <a:solidFill>
                  <a:srgbClr val="555555"/>
                </a:solidFill>
                <a:effectLst/>
                <a:latin typeface="Poppins"/>
              </a:rPr>
              <a:t> HTML5, CSS3, JavaScript </a:t>
            </a:r>
            <a:r>
              <a:rPr lang="es-ES" sz="2800" b="0" i="0" dirty="0" err="1" smtClean="0">
                <a:solidFill>
                  <a:srgbClr val="555555"/>
                </a:solidFill>
                <a:effectLst/>
                <a:latin typeface="Poppins"/>
              </a:rPr>
              <a:t>vanilla</a:t>
            </a:r>
            <a:endParaRPr lang="es-ES" sz="2800" b="0" i="0" dirty="0" smtClean="0">
              <a:solidFill>
                <a:srgbClr val="555555"/>
              </a:solidFill>
              <a:effectLst/>
              <a:latin typeface="Poppins"/>
            </a:endParaRPr>
          </a:p>
          <a:p>
            <a:pPr>
              <a:buFont typeface="Arial" panose="020B0604020202020204" pitchFamily="34" charset="0"/>
              <a:buChar char="•"/>
            </a:pPr>
            <a:endParaRPr lang="es-ES" sz="2800" b="0" i="0" dirty="0" smtClean="0">
              <a:solidFill>
                <a:srgbClr val="555555"/>
              </a:solidFill>
              <a:effectLst/>
              <a:latin typeface="Poppins"/>
            </a:endParaRPr>
          </a:p>
          <a:p>
            <a:pPr>
              <a:buFont typeface="Arial" panose="020B0604020202020204" pitchFamily="34" charset="0"/>
              <a:buChar char="•"/>
            </a:pPr>
            <a:r>
              <a:rPr lang="es-ES" sz="2800" b="1" i="0" dirty="0" err="1" smtClean="0">
                <a:solidFill>
                  <a:srgbClr val="555555"/>
                </a:solidFill>
                <a:effectLst/>
                <a:latin typeface="Poppins"/>
              </a:rPr>
              <a:t>Backend</a:t>
            </a:r>
            <a:r>
              <a:rPr lang="es-ES" sz="2800" b="1" i="0" dirty="0" smtClean="0">
                <a:solidFill>
                  <a:srgbClr val="555555"/>
                </a:solidFill>
                <a:effectLst/>
                <a:latin typeface="Poppins"/>
              </a:rPr>
              <a:t>:</a:t>
            </a:r>
            <a:r>
              <a:rPr lang="es-ES" sz="2800" b="0" i="0" dirty="0" smtClean="0">
                <a:solidFill>
                  <a:srgbClr val="555555"/>
                </a:solidFill>
                <a:effectLst/>
                <a:latin typeface="Poppins"/>
              </a:rPr>
              <a:t> Node.js con Express.js</a:t>
            </a:r>
          </a:p>
          <a:p>
            <a:pPr>
              <a:buFont typeface="Arial" panose="020B0604020202020204" pitchFamily="34" charset="0"/>
              <a:buChar char="•"/>
            </a:pPr>
            <a:endParaRPr lang="es-ES" sz="2800" b="0" i="0" dirty="0" smtClean="0">
              <a:solidFill>
                <a:srgbClr val="555555"/>
              </a:solidFill>
              <a:effectLst/>
              <a:latin typeface="Poppins"/>
            </a:endParaRPr>
          </a:p>
          <a:p>
            <a:pPr>
              <a:buFont typeface="Arial" panose="020B0604020202020204" pitchFamily="34" charset="0"/>
              <a:buChar char="•"/>
            </a:pPr>
            <a:r>
              <a:rPr lang="es-ES" sz="2800" b="1" i="0" dirty="0" smtClean="0">
                <a:solidFill>
                  <a:srgbClr val="555555"/>
                </a:solidFill>
                <a:effectLst/>
                <a:latin typeface="Poppins"/>
              </a:rPr>
              <a:t>Base de datos:</a:t>
            </a:r>
            <a:r>
              <a:rPr lang="es-ES" sz="2800" b="0" i="0" dirty="0" smtClean="0">
                <a:solidFill>
                  <a:srgbClr val="555555"/>
                </a:solidFill>
                <a:effectLst/>
                <a:latin typeface="Poppins"/>
              </a:rPr>
              <a:t> </a:t>
            </a:r>
            <a:r>
              <a:rPr lang="es-ES" sz="2800" b="0" i="0" dirty="0" err="1" smtClean="0">
                <a:solidFill>
                  <a:srgbClr val="555555"/>
                </a:solidFill>
                <a:effectLst/>
                <a:latin typeface="Poppins"/>
              </a:rPr>
              <a:t>Supabase</a:t>
            </a:r>
            <a:r>
              <a:rPr lang="es-ES" sz="2800" b="0" i="0" dirty="0" smtClean="0">
                <a:solidFill>
                  <a:srgbClr val="555555"/>
                </a:solidFill>
                <a:effectLst/>
                <a:latin typeface="Poppins"/>
              </a:rPr>
              <a:t> (</a:t>
            </a:r>
            <a:r>
              <a:rPr lang="es-ES" sz="2800" b="0" i="0" dirty="0" err="1" smtClean="0">
                <a:solidFill>
                  <a:srgbClr val="555555"/>
                </a:solidFill>
                <a:effectLst/>
                <a:latin typeface="Poppins"/>
              </a:rPr>
              <a:t>PostgreSQL</a:t>
            </a:r>
            <a:r>
              <a:rPr lang="es-ES" sz="2800" b="0" i="0" dirty="0" smtClean="0">
                <a:solidFill>
                  <a:srgbClr val="555555"/>
                </a:solidFill>
                <a:effectLst/>
                <a:latin typeface="Poppins"/>
              </a:rPr>
              <a:t>)</a:t>
            </a:r>
          </a:p>
          <a:p>
            <a:pPr>
              <a:buFont typeface="Arial" panose="020B0604020202020204" pitchFamily="34" charset="0"/>
              <a:buChar char="•"/>
            </a:pPr>
            <a:endParaRPr lang="es-ES" sz="2800" b="0" i="0" dirty="0" smtClean="0">
              <a:solidFill>
                <a:srgbClr val="555555"/>
              </a:solidFill>
              <a:effectLst/>
              <a:latin typeface="Poppins"/>
            </a:endParaRPr>
          </a:p>
          <a:p>
            <a:pPr>
              <a:buFont typeface="Arial" panose="020B0604020202020204" pitchFamily="34" charset="0"/>
              <a:buChar char="•"/>
            </a:pPr>
            <a:r>
              <a:rPr lang="es-ES" sz="2800" b="1" i="0" dirty="0" smtClean="0">
                <a:solidFill>
                  <a:srgbClr val="555555"/>
                </a:solidFill>
                <a:effectLst/>
                <a:latin typeface="Poppins"/>
              </a:rPr>
              <a:t>Autenticación:</a:t>
            </a:r>
            <a:r>
              <a:rPr lang="es-ES" sz="2800" b="0" i="0" dirty="0" smtClean="0">
                <a:solidFill>
                  <a:srgbClr val="555555"/>
                </a:solidFill>
                <a:effectLst/>
                <a:latin typeface="Poppins"/>
              </a:rPr>
              <a:t> JWT (JSON Web </a:t>
            </a:r>
            <a:r>
              <a:rPr lang="es-ES" sz="2800" b="0" i="0" dirty="0" err="1" smtClean="0">
                <a:solidFill>
                  <a:srgbClr val="555555"/>
                </a:solidFill>
                <a:effectLst/>
                <a:latin typeface="Poppins"/>
              </a:rPr>
              <a:t>Tokens</a:t>
            </a:r>
            <a:r>
              <a:rPr lang="es-ES" sz="2800" b="0" i="0" dirty="0" smtClean="0">
                <a:solidFill>
                  <a:srgbClr val="555555"/>
                </a:solidFill>
                <a:effectLst/>
                <a:latin typeface="Poppins"/>
              </a:rPr>
              <a:t>)</a:t>
            </a:r>
          </a:p>
          <a:p>
            <a:pPr>
              <a:buFont typeface="Arial" panose="020B0604020202020204" pitchFamily="34" charset="0"/>
              <a:buChar char="•"/>
            </a:pPr>
            <a:endParaRPr lang="es-ES" sz="2800" b="0" i="0" dirty="0" smtClean="0">
              <a:solidFill>
                <a:srgbClr val="555555"/>
              </a:solidFill>
              <a:effectLst/>
              <a:latin typeface="Poppins"/>
            </a:endParaRPr>
          </a:p>
          <a:p>
            <a:pPr>
              <a:buFont typeface="Arial" panose="020B0604020202020204" pitchFamily="34" charset="0"/>
              <a:buChar char="•"/>
            </a:pPr>
            <a:r>
              <a:rPr lang="es-ES" sz="2800" b="1" i="0" dirty="0" smtClean="0">
                <a:solidFill>
                  <a:srgbClr val="555555"/>
                </a:solidFill>
                <a:effectLst/>
                <a:latin typeface="Poppins"/>
              </a:rPr>
              <a:t>Infraestructura:</a:t>
            </a:r>
            <a:r>
              <a:rPr lang="es-ES" sz="2800" b="0" i="0" dirty="0" smtClean="0">
                <a:solidFill>
                  <a:srgbClr val="555555"/>
                </a:solidFill>
                <a:effectLst/>
                <a:latin typeface="Poppins"/>
              </a:rPr>
              <a:t> Alojado en </a:t>
            </a:r>
            <a:r>
              <a:rPr lang="es-ES" sz="2800" b="0" i="0" dirty="0" err="1" smtClean="0">
                <a:solidFill>
                  <a:srgbClr val="555555"/>
                </a:solidFill>
                <a:effectLst/>
                <a:latin typeface="Poppins"/>
              </a:rPr>
              <a:t>Render</a:t>
            </a:r>
            <a:endParaRPr lang="es-ES" sz="2800" b="0" i="0" dirty="0">
              <a:solidFill>
                <a:srgbClr val="555555"/>
              </a:solidFill>
              <a:effectLst/>
              <a:latin typeface="Poppins"/>
            </a:endParaRPr>
          </a:p>
        </p:txBody>
      </p:sp>
    </p:spTree>
    <p:extLst>
      <p:ext uri="{BB962C8B-B14F-4D97-AF65-F5344CB8AC3E}">
        <p14:creationId xmlns:p14="http://schemas.microsoft.com/office/powerpoint/2010/main" val="926729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pic>
        <p:nvPicPr>
          <p:cNvPr id="2" name="Imagen 1"/>
          <p:cNvPicPr>
            <a:picLocks noChangeAspect="1"/>
          </p:cNvPicPr>
          <p:nvPr/>
        </p:nvPicPr>
        <p:blipFill rotWithShape="1">
          <a:blip r:embed="rId3"/>
          <a:srcRect l="26945" t="-255" r="30644" b="255"/>
          <a:stretch/>
        </p:blipFill>
        <p:spPr>
          <a:xfrm>
            <a:off x="8483600" y="941778"/>
            <a:ext cx="3378200" cy="4978400"/>
          </a:xfrm>
          <a:prstGeom prst="rect">
            <a:avLst/>
          </a:prstGeom>
        </p:spPr>
      </p:pic>
    </p:spTree>
    <p:extLst>
      <p:ext uri="{BB962C8B-B14F-4D97-AF65-F5344CB8AC3E}">
        <p14:creationId xmlns:p14="http://schemas.microsoft.com/office/powerpoint/2010/main" val="6491251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4597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41045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l diseño de fondo ppt abstracto es simple y adecuado para fondos ppt y  otros 17033096 Vector en Vecteezy"/>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619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297465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TotalTime>
  <Words>168</Words>
  <Application>Microsoft Office PowerPoint</Application>
  <PresentationFormat>Panorámica</PresentationFormat>
  <Paragraphs>30</Paragraphs>
  <Slides>8</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8</vt:i4>
      </vt:variant>
    </vt:vector>
  </HeadingPairs>
  <TitlesOfParts>
    <vt:vector size="14" baseType="lpstr">
      <vt:lpstr>Arial</vt:lpstr>
      <vt:lpstr>Calibri</vt:lpstr>
      <vt:lpstr>Calibri Light</vt:lpstr>
      <vt:lpstr>Palatino Linotype</vt:lpstr>
      <vt:lpstr>Poppins</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AADARIBUS</dc:creator>
  <cp:lastModifiedBy>AADARIBUS</cp:lastModifiedBy>
  <cp:revision>5</cp:revision>
  <dcterms:created xsi:type="dcterms:W3CDTF">2026-06-27T17:13:48Z</dcterms:created>
  <dcterms:modified xsi:type="dcterms:W3CDTF">2026-06-27T18:35:32Z</dcterms:modified>
</cp:coreProperties>
</file>